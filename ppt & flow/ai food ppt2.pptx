
<file path=[Content_Types].xml><?xml version="1.0" encoding="utf-8"?>
<Types xmlns="http://schemas.openxmlformats.org/package/2006/content-types">
  <Default Extension="image-proxy" ContentType="image/image-proxy"/>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10"/>
  </p:normalViewPr>
  <p:slideViewPr>
    <p:cSldViewPr snapToGrid="0" snapToObjects="1">
      <p:cViewPr>
        <p:scale>
          <a:sx n="80" d="100"/>
          <a:sy n="80" d="100"/>
        </p:scale>
        <p:origin x="1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88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image-proxy"/><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image-proxy"/><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BBBBB"/>
        </a:solidFill>
        <a:effectLst/>
      </p:bgPr>
    </p:bg>
    <p:spTree>
      <p:nvGrpSpPr>
        <p:cNvPr id="1" name=""/>
        <p:cNvGrpSpPr/>
        <p:nvPr/>
      </p:nvGrpSpPr>
      <p:grpSpPr>
        <a:xfrm>
          <a:off x="0" y="0"/>
          <a:ext cx="0" cy="0"/>
          <a:chOff x="0" y="0"/>
          <a:chExt cx="0" cy="0"/>
        </a:xfrm>
      </p:grpSpPr>
      <p:pic>
        <p:nvPicPr>
          <p:cNvPr id="2" name="Image 0" descr="/image-proxy?url=https%3A%2F%2Frocket-slide.s3.eu-west-3.amazonaws.com%2Fslide_694f7f66ebcbd.jpg"/>
          <p:cNvPicPr>
            <a:picLocks noChangeAspect="1"/>
          </p:cNvPicPr>
          <p:nvPr/>
        </p:nvPicPr>
        <p:blipFill>
          <a:blip r:embed="rId3"/>
          <a:srcRect/>
          <a:stretch/>
        </p:blipFill>
        <p:spPr>
          <a:xfrm>
            <a:off x="0" y="0"/>
            <a:ext cx="4572000" cy="5148072"/>
          </a:xfrm>
          <a:prstGeom prst="rect">
            <a:avLst/>
          </a:prstGeom>
        </p:spPr>
      </p:pic>
      <p:sp>
        <p:nvSpPr>
          <p:cNvPr id="3" name="Text 0"/>
          <p:cNvSpPr/>
          <p:nvPr/>
        </p:nvSpPr>
        <p:spPr>
          <a:xfrm>
            <a:off x="4754880" y="914400"/>
            <a:ext cx="4114800" cy="914400"/>
          </a:xfrm>
          <a:prstGeom prst="rect">
            <a:avLst/>
          </a:prstGeom>
          <a:noFill/>
          <a:ln/>
        </p:spPr>
        <p:txBody>
          <a:bodyPr wrap="square" rtlCol="0" anchor="ctr">
            <a:normAutofit/>
          </a:bodyPr>
          <a:lstStyle/>
          <a:p>
            <a:pPr marL="0" indent="0" algn="l">
              <a:buNone/>
            </a:pPr>
            <a:r>
              <a:rPr lang="en-US" sz="2500" b="1" dirty="0">
                <a:solidFill>
                  <a:srgbClr val="000000"/>
                </a:solidFill>
                <a:latin typeface="Open Sans" pitchFamily="34" charset="0"/>
                <a:ea typeface="Open Sans" pitchFamily="34" charset="-122"/>
                <a:cs typeface="Open Sans" pitchFamily="34" charset="-120"/>
              </a:rPr>
              <a:t>System Workflow Overview</a:t>
            </a:r>
            <a:endParaRPr lang="en-US" sz="2500" dirty="0"/>
          </a:p>
        </p:txBody>
      </p:sp>
      <p:sp>
        <p:nvSpPr>
          <p:cNvPr id="4" name="Text 1"/>
          <p:cNvSpPr/>
          <p:nvPr/>
        </p:nvSpPr>
        <p:spPr>
          <a:xfrm>
            <a:off x="4754880" y="2103120"/>
            <a:ext cx="4114800" cy="2743200"/>
          </a:xfrm>
          <a:prstGeom prst="rect">
            <a:avLst/>
          </a:prstGeom>
          <a:noFill/>
          <a:ln/>
        </p:spPr>
        <p:txBody>
          <a:bodyPr wrap="square" rtlCol="0" anchor="ctr">
            <a:normAutofit/>
          </a:bodyPr>
          <a:lstStyle/>
          <a:p>
            <a:pPr marL="0" indent="0" algn="l">
              <a:buNone/>
            </a:pPr>
            <a:r>
              <a:rPr lang="en-US" sz="1600" dirty="0">
                <a:solidFill>
                  <a:srgbClr val="000000"/>
                </a:solidFill>
                <a:latin typeface="Open Sans" pitchFamily="34" charset="0"/>
                <a:ea typeface="Open Sans" pitchFamily="34" charset="-122"/>
                <a:cs typeface="Open Sans" pitchFamily="34" charset="-120"/>
              </a:rPr>
              <a:t>The presentation begins with a comprehensive overview of the system workflow, highlighting its core components and user journey. It introduces the concept of a landing page funneling users towards a registration interface, setting the foundation for the detailed flow diagram. This cover slide sets the tone for understanding the intricate processes involved.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BBBBB"/>
        </a:solidFill>
        <a:effectLst/>
      </p:bgPr>
    </p:bg>
    <p:spTree>
      <p:nvGrpSpPr>
        <p:cNvPr id="1" name=""/>
        <p:cNvGrpSpPr/>
        <p:nvPr/>
      </p:nvGrpSpPr>
      <p:grpSpPr>
        <a:xfrm>
          <a:off x="0" y="0"/>
          <a:ext cx="0" cy="0"/>
          <a:chOff x="0" y="0"/>
          <a:chExt cx="0" cy="0"/>
        </a:xfrm>
      </p:grpSpPr>
      <p:pic>
        <p:nvPicPr>
          <p:cNvPr id="2" name="Image 0" descr="/image-proxy?url=https%3A%2F%2Frocket-slide.s3.eu-west-3.amazonaws.com%2Fslide_694f7f679cf78.jpg"/>
          <p:cNvPicPr>
            <a:picLocks noChangeAspect="1"/>
          </p:cNvPicPr>
          <p:nvPr/>
        </p:nvPicPr>
        <p:blipFill>
          <a:blip r:embed="rId3"/>
          <a:srcRect/>
          <a:stretch/>
        </p:blipFill>
        <p:spPr>
          <a:xfrm>
            <a:off x="5486400" y="0"/>
            <a:ext cx="3657600" cy="5143500"/>
          </a:xfrm>
          <a:prstGeom prst="rect">
            <a:avLst/>
          </a:prstGeom>
        </p:spPr>
      </p:pic>
      <p:sp>
        <p:nvSpPr>
          <p:cNvPr id="3" name="Text 0"/>
          <p:cNvSpPr/>
          <p:nvPr/>
        </p:nvSpPr>
        <p:spPr>
          <a:xfrm>
            <a:off x="548640" y="91440"/>
            <a:ext cx="5029200" cy="731520"/>
          </a:xfrm>
          <a:prstGeom prst="rect">
            <a:avLst/>
          </a:prstGeom>
          <a:noFill/>
          <a:ln/>
        </p:spPr>
        <p:txBody>
          <a:bodyPr wrap="square" rtlCol="0" anchor="ctr">
            <a:normAutofit/>
          </a:bodyPr>
          <a:lstStyle/>
          <a:p>
            <a:pPr marL="0" indent="0" algn="l">
              <a:buNone/>
            </a:pPr>
            <a:r>
              <a:rPr lang="en-US" sz="2600" b="1" dirty="0">
                <a:solidFill>
                  <a:srgbClr val="000000"/>
                </a:solidFill>
                <a:latin typeface="Open Sans" pitchFamily="34" charset="0"/>
                <a:ea typeface="Open Sans" pitchFamily="34" charset="-122"/>
                <a:cs typeface="Open Sans" pitchFamily="34" charset="-120"/>
              </a:rPr>
              <a:t>Agenda and Outline</a:t>
            </a:r>
            <a:endParaRPr lang="en-US" sz="2600" dirty="0"/>
          </a:p>
        </p:txBody>
      </p:sp>
      <p:sp>
        <p:nvSpPr>
          <p:cNvPr id="4" name="Text 1"/>
          <p:cNvSpPr/>
          <p:nvPr/>
        </p:nvSpPr>
        <p:spPr>
          <a:xfrm>
            <a:off x="548640" y="731520"/>
            <a:ext cx="5029200" cy="731520"/>
          </a:xfrm>
          <a:prstGeom prst="rect">
            <a:avLst/>
          </a:prstGeom>
          <a:noFill/>
          <a:ln/>
        </p:spPr>
        <p:txBody>
          <a:bodyPr wrap="square" rtlCol="0" anchor="ctr">
            <a:normAutofit/>
          </a:bodyPr>
          <a:lstStyle/>
          <a:p>
            <a:pPr marL="0" indent="0" algn="l">
              <a:buNone/>
            </a:pPr>
            <a:r>
              <a:rPr lang="en-US" sz="1200" dirty="0">
                <a:solidFill>
                  <a:srgbClr val="444444"/>
                </a:solidFill>
                <a:latin typeface="Open Sans" pitchFamily="34" charset="0"/>
                <a:ea typeface="Open Sans" pitchFamily="34" charset="-122"/>
                <a:cs typeface="Open Sans" pitchFamily="34" charset="-120"/>
              </a:rPr>
              <a:t>This slide outlines the key sections of the presentation, starting with an introduction and moving through the solution explanation, business model, challenges, and future outlook, concluding with a call to action and contact information. The agenda helps the audience understand what to expect, making the presentation easier to follow.</a:t>
            </a:r>
            <a:endParaRPr lang="en-US" sz="1200" dirty="0"/>
          </a:p>
        </p:txBody>
      </p:sp>
      <p:sp>
        <p:nvSpPr>
          <p:cNvPr id="5" name="Shape 2"/>
          <p:cNvSpPr/>
          <p:nvPr/>
        </p:nvSpPr>
        <p:spPr>
          <a:xfrm>
            <a:off x="548640" y="1280160"/>
            <a:ext cx="3657600" cy="1371600"/>
          </a:xfrm>
          <a:prstGeom prst="rightArrow">
            <a:avLst/>
          </a:prstGeom>
          <a:solidFill>
            <a:srgbClr val="86ADBA"/>
          </a:solidFill>
          <a:ln w="12700">
            <a:solidFill>
              <a:srgbClr val="FFFFFF"/>
            </a:solidFill>
            <a:prstDash val="solid"/>
          </a:ln>
        </p:spPr>
      </p:sp>
      <p:sp>
        <p:nvSpPr>
          <p:cNvPr id="6" name="Text 3"/>
          <p:cNvSpPr/>
          <p:nvPr/>
        </p:nvSpPr>
        <p:spPr>
          <a:xfrm>
            <a:off x="822960" y="1737360"/>
            <a:ext cx="4572000" cy="228600"/>
          </a:xfrm>
          <a:prstGeom prst="rect">
            <a:avLst/>
          </a:prstGeom>
          <a:noFill/>
          <a:ln/>
        </p:spPr>
        <p:txBody>
          <a:bodyPr wrap="square" rtlCol="0" anchor="ctr">
            <a:normAutofit/>
          </a:bodyPr>
          <a:lstStyle/>
          <a:p>
            <a:pPr marL="0" indent="0" algn="l">
              <a:buNone/>
            </a:pPr>
            <a:r>
              <a:rPr lang="en-US" sz="1300" b="1" dirty="0">
                <a:solidFill>
                  <a:srgbClr val="000000"/>
                </a:solidFill>
                <a:latin typeface="Open Sans" pitchFamily="34" charset="0"/>
                <a:ea typeface="Open Sans" pitchFamily="34" charset="-122"/>
                <a:cs typeface="Open Sans" pitchFamily="34" charset="-120"/>
              </a:rPr>
              <a:t>Topic 1</a:t>
            </a:r>
            <a:endParaRPr lang="en-US" sz="1300" dirty="0"/>
          </a:p>
        </p:txBody>
      </p:sp>
      <p:sp>
        <p:nvSpPr>
          <p:cNvPr id="7" name="Text 4"/>
          <p:cNvSpPr txBox="1"/>
          <p:nvPr/>
        </p:nvSpPr>
        <p:spPr>
          <a:xfrm>
            <a:off x="822960" y="1645920"/>
            <a:ext cx="4572000" cy="914400"/>
          </a:xfrm>
          <a:prstGeom prst="rect">
            <a:avLst/>
          </a:prstGeom>
          <a:noFill/>
          <a:ln/>
        </p:spPr>
        <p:txBody>
          <a:bodyPr wrap="square" rtlCol="0" anchor="ctr">
            <a:normAutofit/>
          </a:bodyPr>
          <a:lstStyle/>
          <a:p>
            <a:pPr marL="0" indent="0" algn="l">
              <a:buNone/>
            </a:pPr>
            <a:r>
              <a:rPr lang="en-US" sz="1100" dirty="0">
                <a:solidFill>
                  <a:srgbClr val="222222"/>
                </a:solidFill>
                <a:latin typeface="Open Sans" pitchFamily="34" charset="0"/>
                <a:ea typeface="Open Sans" pitchFamily="34" charset="-122"/>
                <a:cs typeface="Open Sans" pitchFamily="34" charset="-120"/>
              </a:rPr>
              <a:t>Start typing...</a:t>
            </a:r>
            <a:endParaRPr lang="en-US" sz="1100" dirty="0"/>
          </a:p>
        </p:txBody>
      </p:sp>
      <p:sp>
        <p:nvSpPr>
          <p:cNvPr id="8" name="Shape 5"/>
          <p:cNvSpPr/>
          <p:nvPr/>
        </p:nvSpPr>
        <p:spPr>
          <a:xfrm>
            <a:off x="548640" y="2468880"/>
            <a:ext cx="4114800" cy="1371600"/>
          </a:xfrm>
          <a:prstGeom prst="rightArrow">
            <a:avLst/>
          </a:prstGeom>
          <a:solidFill>
            <a:srgbClr val="86ADBA"/>
          </a:solidFill>
          <a:ln w="12700">
            <a:solidFill>
              <a:srgbClr val="FFFFFF"/>
            </a:solidFill>
            <a:prstDash val="solid"/>
          </a:ln>
        </p:spPr>
      </p:sp>
      <p:sp>
        <p:nvSpPr>
          <p:cNvPr id="9" name="Text 6"/>
          <p:cNvSpPr/>
          <p:nvPr/>
        </p:nvSpPr>
        <p:spPr>
          <a:xfrm>
            <a:off x="822960" y="2926080"/>
            <a:ext cx="4572000" cy="228600"/>
          </a:xfrm>
          <a:prstGeom prst="rect">
            <a:avLst/>
          </a:prstGeom>
          <a:noFill/>
          <a:ln/>
        </p:spPr>
        <p:txBody>
          <a:bodyPr wrap="square" rtlCol="0" anchor="ctr">
            <a:normAutofit/>
          </a:bodyPr>
          <a:lstStyle/>
          <a:p>
            <a:pPr marL="0" indent="0" algn="l">
              <a:buNone/>
            </a:pPr>
            <a:r>
              <a:rPr lang="en-US" sz="1300" b="1" dirty="0">
                <a:solidFill>
                  <a:srgbClr val="000000"/>
                </a:solidFill>
                <a:latin typeface="Open Sans" pitchFamily="34" charset="0"/>
                <a:ea typeface="Open Sans" pitchFamily="34" charset="-122"/>
                <a:cs typeface="Open Sans" pitchFamily="34" charset="-120"/>
              </a:rPr>
              <a:t>Topic 2</a:t>
            </a:r>
            <a:endParaRPr lang="en-US" sz="1300" dirty="0"/>
          </a:p>
        </p:txBody>
      </p:sp>
      <p:sp>
        <p:nvSpPr>
          <p:cNvPr id="10" name="Text 7"/>
          <p:cNvSpPr txBox="1"/>
          <p:nvPr/>
        </p:nvSpPr>
        <p:spPr>
          <a:xfrm>
            <a:off x="822960" y="2834640"/>
            <a:ext cx="4572000" cy="914400"/>
          </a:xfrm>
          <a:prstGeom prst="rect">
            <a:avLst/>
          </a:prstGeom>
          <a:noFill/>
          <a:ln/>
        </p:spPr>
        <p:txBody>
          <a:bodyPr wrap="square" rtlCol="0" anchor="ctr">
            <a:normAutofit/>
          </a:bodyPr>
          <a:lstStyle/>
          <a:p>
            <a:pPr marL="0" indent="0" algn="l">
              <a:buNone/>
            </a:pPr>
            <a:r>
              <a:rPr lang="en-US" sz="1100" dirty="0">
                <a:solidFill>
                  <a:srgbClr val="222222"/>
                </a:solidFill>
                <a:latin typeface="Open Sans" pitchFamily="34" charset="0"/>
                <a:ea typeface="Open Sans" pitchFamily="34" charset="-122"/>
                <a:cs typeface="Open Sans" pitchFamily="34" charset="-120"/>
              </a:rPr>
              <a:t>Start typing...</a:t>
            </a:r>
            <a:endParaRPr lang="en-US" sz="1100" dirty="0"/>
          </a:p>
        </p:txBody>
      </p:sp>
      <p:sp>
        <p:nvSpPr>
          <p:cNvPr id="11" name="Shape 8"/>
          <p:cNvSpPr/>
          <p:nvPr/>
        </p:nvSpPr>
        <p:spPr>
          <a:xfrm>
            <a:off x="548640" y="3657600"/>
            <a:ext cx="4572000" cy="1371600"/>
          </a:xfrm>
          <a:prstGeom prst="rightArrow">
            <a:avLst/>
          </a:prstGeom>
          <a:solidFill>
            <a:srgbClr val="86ADBA"/>
          </a:solidFill>
          <a:ln w="12700">
            <a:solidFill>
              <a:srgbClr val="FFFFFF"/>
            </a:solidFill>
            <a:prstDash val="solid"/>
          </a:ln>
        </p:spPr>
      </p:sp>
      <p:sp>
        <p:nvSpPr>
          <p:cNvPr id="12" name="Text 9"/>
          <p:cNvSpPr/>
          <p:nvPr/>
        </p:nvSpPr>
        <p:spPr>
          <a:xfrm>
            <a:off x="822960" y="4114800"/>
            <a:ext cx="4572000" cy="228600"/>
          </a:xfrm>
          <a:prstGeom prst="rect">
            <a:avLst/>
          </a:prstGeom>
          <a:noFill/>
          <a:ln/>
        </p:spPr>
        <p:txBody>
          <a:bodyPr wrap="square" rtlCol="0" anchor="ctr">
            <a:normAutofit/>
          </a:bodyPr>
          <a:lstStyle/>
          <a:p>
            <a:pPr marL="0" indent="0" algn="l">
              <a:buNone/>
            </a:pPr>
            <a:r>
              <a:rPr lang="en-US" sz="1300" b="1" dirty="0">
                <a:solidFill>
                  <a:srgbClr val="000000"/>
                </a:solidFill>
                <a:latin typeface="Open Sans" pitchFamily="34" charset="0"/>
                <a:ea typeface="Open Sans" pitchFamily="34" charset="-122"/>
                <a:cs typeface="Open Sans" pitchFamily="34" charset="-120"/>
              </a:rPr>
              <a:t>Topic 3</a:t>
            </a:r>
            <a:endParaRPr lang="en-US" sz="1300" dirty="0"/>
          </a:p>
        </p:txBody>
      </p:sp>
      <p:sp>
        <p:nvSpPr>
          <p:cNvPr id="13" name="Text 10"/>
          <p:cNvSpPr txBox="1"/>
          <p:nvPr/>
        </p:nvSpPr>
        <p:spPr>
          <a:xfrm>
            <a:off x="822960" y="4023360"/>
            <a:ext cx="4572000" cy="914400"/>
          </a:xfrm>
          <a:prstGeom prst="rect">
            <a:avLst/>
          </a:prstGeom>
          <a:noFill/>
          <a:ln/>
        </p:spPr>
        <p:txBody>
          <a:bodyPr wrap="square" rtlCol="0" anchor="ctr">
            <a:normAutofit/>
          </a:bodyPr>
          <a:lstStyle/>
          <a:p>
            <a:pPr marL="0" indent="0" algn="l">
              <a:buNone/>
            </a:pPr>
            <a:r>
              <a:rPr lang="en-US" sz="1100" dirty="0">
                <a:solidFill>
                  <a:srgbClr val="222222"/>
                </a:solidFill>
                <a:latin typeface="Open Sans" pitchFamily="34" charset="0"/>
                <a:ea typeface="Open Sans" pitchFamily="34" charset="-122"/>
                <a:cs typeface="Open Sans" pitchFamily="34" charset="-120"/>
              </a:rPr>
              <a:t>Start typing...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BBBBB"/>
        </a:solidFill>
        <a:effectLst/>
      </p:bgPr>
    </p:bg>
    <p:spTree>
      <p:nvGrpSpPr>
        <p:cNvPr id="1" name=""/>
        <p:cNvGrpSpPr/>
        <p:nvPr/>
      </p:nvGrpSpPr>
      <p:grpSpPr>
        <a:xfrm>
          <a:off x="0" y="0"/>
          <a:ext cx="0" cy="0"/>
          <a:chOff x="0" y="0"/>
          <a:chExt cx="0" cy="0"/>
        </a:xfrm>
      </p:grpSpPr>
      <p:sp>
        <p:nvSpPr>
          <p:cNvPr id="2" name="Shape 0"/>
          <p:cNvSpPr/>
          <p:nvPr/>
        </p:nvSpPr>
        <p:spPr>
          <a:xfrm rot="2700000">
            <a:off x="-182880" y="-182880"/>
            <a:ext cx="914400" cy="914400"/>
          </a:xfrm>
          <a:prstGeom prst="rect">
            <a:avLst/>
          </a:prstGeom>
          <a:solidFill>
            <a:srgbClr val="181C21">
              <a:alpha val="10000"/>
            </a:srgbClr>
          </a:solidFill>
          <a:ln/>
        </p:spPr>
      </p:sp>
      <p:sp>
        <p:nvSpPr>
          <p:cNvPr id="3" name="Shape 1"/>
          <p:cNvSpPr/>
          <p:nvPr/>
        </p:nvSpPr>
        <p:spPr>
          <a:xfrm>
            <a:off x="2743200" y="3474720"/>
            <a:ext cx="1371600" cy="1371600"/>
          </a:xfrm>
          <a:prstGeom prst="ellipse">
            <a:avLst/>
          </a:prstGeom>
          <a:solidFill>
            <a:srgbClr val="4F7C8B">
              <a:alpha val="10000"/>
            </a:srgbClr>
          </a:solidFill>
          <a:ln/>
        </p:spPr>
      </p:sp>
      <p:sp>
        <p:nvSpPr>
          <p:cNvPr id="4" name="Shape 2"/>
          <p:cNvSpPr/>
          <p:nvPr/>
        </p:nvSpPr>
        <p:spPr>
          <a:xfrm>
            <a:off x="457200" y="1371600"/>
            <a:ext cx="73152" cy="73152"/>
          </a:xfrm>
          <a:prstGeom prst="ellipse">
            <a:avLst/>
          </a:prstGeom>
          <a:solidFill>
            <a:srgbClr val="181C21"/>
          </a:solidFill>
          <a:ln/>
        </p:spPr>
      </p:sp>
      <p:sp>
        <p:nvSpPr>
          <p:cNvPr id="5" name="Shape 3"/>
          <p:cNvSpPr/>
          <p:nvPr/>
        </p:nvSpPr>
        <p:spPr>
          <a:xfrm>
            <a:off x="594360" y="1371600"/>
            <a:ext cx="73152" cy="73152"/>
          </a:xfrm>
          <a:prstGeom prst="ellipse">
            <a:avLst/>
          </a:prstGeom>
          <a:solidFill>
            <a:srgbClr val="4F7C8B"/>
          </a:solidFill>
          <a:ln/>
        </p:spPr>
      </p:sp>
      <p:sp>
        <p:nvSpPr>
          <p:cNvPr id="6" name="Shape 4"/>
          <p:cNvSpPr/>
          <p:nvPr/>
        </p:nvSpPr>
        <p:spPr>
          <a:xfrm>
            <a:off x="731520" y="1371600"/>
            <a:ext cx="73152" cy="73152"/>
          </a:xfrm>
          <a:prstGeom prst="ellipse">
            <a:avLst/>
          </a:prstGeom>
          <a:solidFill>
            <a:srgbClr val="434D5C"/>
          </a:solidFill>
          <a:ln/>
        </p:spPr>
      </p:sp>
      <p:sp>
        <p:nvSpPr>
          <p:cNvPr id="7" name="Text 5"/>
          <p:cNvSpPr/>
          <p:nvPr/>
        </p:nvSpPr>
        <p:spPr>
          <a:xfrm>
            <a:off x="457200" y="2103120"/>
            <a:ext cx="3200400" cy="731520"/>
          </a:xfrm>
          <a:prstGeom prst="rect">
            <a:avLst/>
          </a:prstGeom>
          <a:noFill/>
          <a:ln/>
        </p:spPr>
        <p:txBody>
          <a:bodyPr wrap="square" rtlCol="0" anchor="ctr"/>
          <a:lstStyle/>
          <a:p>
            <a:pPr marL="0" indent="0">
              <a:buNone/>
            </a:pPr>
            <a:r>
              <a:rPr lang="en-US" sz="2500" dirty="0">
                <a:solidFill>
                  <a:srgbClr val="000000"/>
                </a:solidFill>
                <a:latin typeface="Open Sans" pitchFamily="34" charset="0"/>
                <a:ea typeface="Open Sans" pitchFamily="34" charset="-122"/>
                <a:cs typeface="Open Sans" pitchFamily="34" charset="-120"/>
              </a:rPr>
              <a:t>Introduction to System Flow</a:t>
            </a:r>
            <a:endParaRPr lang="en-US" sz="2500" dirty="0"/>
          </a:p>
        </p:txBody>
      </p:sp>
      <p:sp>
        <p:nvSpPr>
          <p:cNvPr id="8" name="Shape 6"/>
          <p:cNvSpPr/>
          <p:nvPr/>
        </p:nvSpPr>
        <p:spPr>
          <a:xfrm>
            <a:off x="457200" y="3200400"/>
            <a:ext cx="548640" cy="0"/>
          </a:xfrm>
          <a:prstGeom prst="line">
            <a:avLst/>
          </a:prstGeom>
          <a:noFill/>
          <a:ln w="38100">
            <a:solidFill>
              <a:srgbClr val="181C21"/>
            </a:solidFill>
            <a:prstDash val="solid"/>
          </a:ln>
        </p:spPr>
      </p:sp>
      <p:sp>
        <p:nvSpPr>
          <p:cNvPr id="9" name="Text 7"/>
          <p:cNvSpPr/>
          <p:nvPr/>
        </p:nvSpPr>
        <p:spPr>
          <a:xfrm>
            <a:off x="457200" y="3383280"/>
            <a:ext cx="3200400" cy="914400"/>
          </a:xfrm>
          <a:prstGeom prst="rect">
            <a:avLst/>
          </a:prstGeom>
          <a:noFill/>
          <a:ln/>
        </p:spPr>
        <p:txBody>
          <a:bodyPr wrap="square" rtlCol="0" anchor="ctr"/>
          <a:lstStyle/>
          <a:p>
            <a:pPr marL="0" indent="0">
              <a:buNone/>
            </a:pPr>
            <a:r>
              <a:rPr lang="en-US" sz="1200" dirty="0">
                <a:solidFill>
                  <a:srgbClr val="000000"/>
                </a:solidFill>
                <a:latin typeface="Open Sans" pitchFamily="34" charset="0"/>
                <a:ea typeface="Open Sans" pitchFamily="34" charset="-122"/>
                <a:cs typeface="Open Sans" pitchFamily="34" charset="-120"/>
              </a:rPr>
              <a:t>Here, we delve into the system flow, exploring the landing pages and registration mechanisms. This section covers the benefits of a streamlined user entry point and the technology underpinning the registration system, providing a deep dive into the initial stages of user interaction.</a:t>
            </a:r>
            <a:endParaRPr lang="en-US" sz="1200" dirty="0"/>
          </a:p>
        </p:txBody>
      </p:sp>
      <p:sp>
        <p:nvSpPr>
          <p:cNvPr id="10" name="Shape 8"/>
          <p:cNvSpPr/>
          <p:nvPr/>
        </p:nvSpPr>
        <p:spPr>
          <a:xfrm>
            <a:off x="4114800" y="0"/>
            <a:ext cx="5029200" cy="5148072"/>
          </a:xfrm>
          <a:prstGeom prst="rect">
            <a:avLst/>
          </a:prstGeom>
          <a:solidFill>
            <a:srgbClr val="181C21">
              <a:alpha val="5000"/>
            </a:srgbClr>
          </a:solidFill>
          <a:ln/>
        </p:spPr>
      </p:sp>
      <p:sp>
        <p:nvSpPr>
          <p:cNvPr id="11" name="Shape 9"/>
          <p:cNvSpPr/>
          <p:nvPr/>
        </p:nvSpPr>
        <p:spPr>
          <a:xfrm>
            <a:off x="4594860" y="731520"/>
            <a:ext cx="3520440" cy="1828800"/>
          </a:xfrm>
          <a:prstGeom prst="roundRect">
            <a:avLst>
              <a:gd name="adj" fmla="val 10000"/>
            </a:avLst>
          </a:prstGeom>
          <a:solidFill>
            <a:srgbClr val="181C21"/>
          </a:solidFill>
          <a:ln/>
        </p:spPr>
      </p:sp>
      <p:sp>
        <p:nvSpPr>
          <p:cNvPr id="12" name="Shape 10"/>
          <p:cNvSpPr/>
          <p:nvPr/>
        </p:nvSpPr>
        <p:spPr>
          <a:xfrm>
            <a:off x="7566660" y="2011680"/>
            <a:ext cx="640080" cy="640080"/>
          </a:xfrm>
          <a:prstGeom prst="rect">
            <a:avLst/>
          </a:prstGeom>
          <a:solidFill>
            <a:srgbClr val="FFFFFF">
              <a:alpha val="10000"/>
            </a:srgbClr>
          </a:solidFill>
          <a:ln/>
        </p:spPr>
      </p:sp>
      <p:sp>
        <p:nvSpPr>
          <p:cNvPr id="13" name="Shape 11"/>
          <p:cNvSpPr/>
          <p:nvPr/>
        </p:nvSpPr>
        <p:spPr>
          <a:xfrm>
            <a:off x="4869180" y="1005840"/>
            <a:ext cx="548640" cy="548640"/>
          </a:xfrm>
          <a:prstGeom prst="roundRect">
            <a:avLst>
              <a:gd name="adj" fmla="val 33333"/>
            </a:avLst>
          </a:prstGeom>
          <a:solidFill>
            <a:srgbClr val="FFFFFF"/>
          </a:solidFill>
          <a:ln/>
        </p:spPr>
      </p:sp>
      <p:sp>
        <p:nvSpPr>
          <p:cNvPr id="14" name="Text 12"/>
          <p:cNvSpPr/>
          <p:nvPr/>
        </p:nvSpPr>
        <p:spPr>
          <a:xfrm>
            <a:off x="4869180" y="1005840"/>
            <a:ext cx="548640" cy="548640"/>
          </a:xfrm>
          <a:prstGeom prst="rect">
            <a:avLst/>
          </a:prstGeom>
          <a:noFill/>
          <a:ln/>
        </p:spPr>
        <p:txBody>
          <a:bodyPr wrap="square" rtlCol="0" anchor="ctr"/>
          <a:lstStyle/>
          <a:p>
            <a:pPr marL="0" indent="0" algn="ctr">
              <a:buNone/>
            </a:pPr>
            <a:r>
              <a:rPr lang="en-US" sz="1200" b="1" dirty="0">
                <a:solidFill>
                  <a:srgbClr val="181C21"/>
                </a:solidFill>
                <a:latin typeface="Open Sans" pitchFamily="34" charset="0"/>
                <a:ea typeface="Open Sans" pitchFamily="34" charset="-122"/>
                <a:cs typeface="Open Sans" pitchFamily="34" charset="-120"/>
              </a:rPr>
              <a:t>1</a:t>
            </a:r>
            <a:endParaRPr lang="en-US" sz="1200" dirty="0"/>
          </a:p>
        </p:txBody>
      </p:sp>
      <p:sp>
        <p:nvSpPr>
          <p:cNvPr id="15" name="Text 13"/>
          <p:cNvSpPr/>
          <p:nvPr/>
        </p:nvSpPr>
        <p:spPr>
          <a:xfrm>
            <a:off x="5600700" y="1005840"/>
            <a:ext cx="2331720" cy="457200"/>
          </a:xfrm>
          <a:prstGeom prst="rect">
            <a:avLst/>
          </a:prstGeom>
          <a:noFill/>
          <a:ln/>
        </p:spPr>
        <p:txBody>
          <a:bodyPr wrap="square" rtlCol="0" anchor="ctr"/>
          <a:lstStyle/>
          <a:p>
            <a:pPr marL="0" indent="0">
              <a:buNone/>
            </a:pPr>
            <a:r>
              <a:rPr lang="en-US" sz="1200" b="1" dirty="0">
                <a:solidFill>
                  <a:srgbClr val="FFFFFF"/>
                </a:solidFill>
                <a:latin typeface="Open Sans" pitchFamily="34" charset="0"/>
                <a:ea typeface="Open Sans" pitchFamily="34" charset="-122"/>
                <a:cs typeface="Open Sans" pitchFamily="34" charset="-120"/>
              </a:rPr>
              <a:t>Landing Page</a:t>
            </a:r>
            <a:endParaRPr lang="en-US" sz="1200" dirty="0"/>
          </a:p>
        </p:txBody>
      </p:sp>
      <p:sp>
        <p:nvSpPr>
          <p:cNvPr id="16" name="Text 14"/>
          <p:cNvSpPr/>
          <p:nvPr/>
        </p:nvSpPr>
        <p:spPr>
          <a:xfrm>
            <a:off x="5600700" y="1554480"/>
            <a:ext cx="2331720" cy="10972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The landing page serves as the entry point for users, guiding them into the registration funnel.</a:t>
            </a:r>
            <a:endParaRPr lang="en-US" sz="1000" dirty="0"/>
          </a:p>
        </p:txBody>
      </p:sp>
      <p:sp>
        <p:nvSpPr>
          <p:cNvPr id="17" name="Shape 15"/>
          <p:cNvSpPr/>
          <p:nvPr/>
        </p:nvSpPr>
        <p:spPr>
          <a:xfrm>
            <a:off x="5143500" y="3017520"/>
            <a:ext cx="3520440" cy="1828800"/>
          </a:xfrm>
          <a:prstGeom prst="roundRect">
            <a:avLst>
              <a:gd name="adj" fmla="val 10000"/>
            </a:avLst>
          </a:prstGeom>
          <a:solidFill>
            <a:srgbClr val="4F7C8B"/>
          </a:solidFill>
          <a:ln/>
        </p:spPr>
      </p:sp>
      <p:sp>
        <p:nvSpPr>
          <p:cNvPr id="18" name="Shape 16"/>
          <p:cNvSpPr/>
          <p:nvPr/>
        </p:nvSpPr>
        <p:spPr>
          <a:xfrm>
            <a:off x="5052060" y="2926080"/>
            <a:ext cx="640080" cy="640080"/>
          </a:xfrm>
          <a:prstGeom prst="rect">
            <a:avLst/>
          </a:prstGeom>
          <a:solidFill>
            <a:srgbClr val="FFFFFF">
              <a:alpha val="10000"/>
            </a:srgbClr>
          </a:solidFill>
          <a:ln/>
        </p:spPr>
      </p:sp>
      <p:sp>
        <p:nvSpPr>
          <p:cNvPr id="19" name="Shape 17"/>
          <p:cNvSpPr/>
          <p:nvPr/>
        </p:nvSpPr>
        <p:spPr>
          <a:xfrm>
            <a:off x="5417820" y="3291840"/>
            <a:ext cx="548640" cy="548640"/>
          </a:xfrm>
          <a:prstGeom prst="roundRect">
            <a:avLst>
              <a:gd name="adj" fmla="val 33333"/>
            </a:avLst>
          </a:prstGeom>
          <a:solidFill>
            <a:srgbClr val="FFFFFF"/>
          </a:solidFill>
          <a:ln/>
        </p:spPr>
      </p:sp>
      <p:sp>
        <p:nvSpPr>
          <p:cNvPr id="20" name="Text 18"/>
          <p:cNvSpPr/>
          <p:nvPr/>
        </p:nvSpPr>
        <p:spPr>
          <a:xfrm>
            <a:off x="5417820" y="3291840"/>
            <a:ext cx="548640" cy="548640"/>
          </a:xfrm>
          <a:prstGeom prst="rect">
            <a:avLst/>
          </a:prstGeom>
          <a:noFill/>
          <a:ln/>
        </p:spPr>
        <p:txBody>
          <a:bodyPr wrap="square" rtlCol="0" anchor="ctr"/>
          <a:lstStyle/>
          <a:p>
            <a:pPr marL="0" indent="0" algn="ctr">
              <a:buNone/>
            </a:pPr>
            <a:r>
              <a:rPr lang="en-US" sz="1200" b="1" dirty="0">
                <a:solidFill>
                  <a:srgbClr val="4F7C8B"/>
                </a:solidFill>
                <a:latin typeface="Open Sans" pitchFamily="34" charset="0"/>
                <a:ea typeface="Open Sans" pitchFamily="34" charset="-122"/>
                <a:cs typeface="Open Sans" pitchFamily="34" charset="-120"/>
              </a:rPr>
              <a:t>2</a:t>
            </a:r>
            <a:endParaRPr lang="en-US" sz="1200" dirty="0"/>
          </a:p>
        </p:txBody>
      </p:sp>
      <p:sp>
        <p:nvSpPr>
          <p:cNvPr id="21" name="Text 19"/>
          <p:cNvSpPr/>
          <p:nvPr/>
        </p:nvSpPr>
        <p:spPr>
          <a:xfrm>
            <a:off x="6149340" y="3291840"/>
            <a:ext cx="2331720" cy="457200"/>
          </a:xfrm>
          <a:prstGeom prst="rect">
            <a:avLst/>
          </a:prstGeom>
          <a:noFill/>
          <a:ln/>
        </p:spPr>
        <p:txBody>
          <a:bodyPr wrap="square" rtlCol="0" anchor="ctr"/>
          <a:lstStyle/>
          <a:p>
            <a:pPr marL="0" indent="0">
              <a:buNone/>
            </a:pPr>
            <a:r>
              <a:rPr lang="en-US" sz="1200" b="1" dirty="0">
                <a:solidFill>
                  <a:srgbClr val="FFFFFF"/>
                </a:solidFill>
                <a:latin typeface="Open Sans" pitchFamily="34" charset="0"/>
                <a:ea typeface="Open Sans" pitchFamily="34" charset="-122"/>
                <a:cs typeface="Open Sans" pitchFamily="34" charset="-120"/>
              </a:rPr>
              <a:t>Registration</a:t>
            </a:r>
            <a:endParaRPr lang="en-US" sz="1200" dirty="0"/>
          </a:p>
        </p:txBody>
      </p:sp>
      <p:sp>
        <p:nvSpPr>
          <p:cNvPr id="22" name="Text 20"/>
          <p:cNvSpPr/>
          <p:nvPr/>
        </p:nvSpPr>
        <p:spPr>
          <a:xfrm>
            <a:off x="6149340" y="3840480"/>
            <a:ext cx="2331720" cy="1097280"/>
          </a:xfrm>
          <a:prstGeom prst="rect">
            <a:avLst/>
          </a:prstGeom>
          <a:noFill/>
          <a:ln/>
        </p:spPr>
        <p:txBody>
          <a:bodyPr wrap="square" rtlCol="0" anchor="ctr"/>
          <a:lstStyle/>
          <a:p>
            <a:pPr marL="0" indent="0">
              <a:buNone/>
            </a:pPr>
            <a:r>
              <a:rPr lang="en-US" sz="1000" dirty="0">
                <a:solidFill>
                  <a:srgbClr val="FFFFFF"/>
                </a:solidFill>
                <a:latin typeface="Open Sans" pitchFamily="34" charset="0"/>
                <a:ea typeface="Open Sans" pitchFamily="34" charset="-122"/>
                <a:cs typeface="Open Sans" pitchFamily="34" charset="-120"/>
              </a:rPr>
              <a:t>A seamless registration process enhances user experience and data accuracy.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BBBBB"/>
        </a:solidFill>
        <a:effectLst/>
      </p:bgPr>
    </p:bg>
    <p:spTree>
      <p:nvGrpSpPr>
        <p:cNvPr id="1" name=""/>
        <p:cNvGrpSpPr/>
        <p:nvPr/>
      </p:nvGrpSpPr>
      <p:grpSpPr>
        <a:xfrm>
          <a:off x="0" y="0"/>
          <a:ext cx="0" cy="0"/>
          <a:chOff x="0" y="0"/>
          <a:chExt cx="0" cy="0"/>
        </a:xfrm>
      </p:grpSpPr>
      <p:sp>
        <p:nvSpPr>
          <p:cNvPr id="2" name="Text 0"/>
          <p:cNvSpPr/>
          <p:nvPr/>
        </p:nvSpPr>
        <p:spPr>
          <a:xfrm>
            <a:off x="523875" y="662940"/>
            <a:ext cx="8096250" cy="720090"/>
          </a:xfrm>
          <a:prstGeom prst="rect">
            <a:avLst/>
          </a:prstGeom>
          <a:noFill/>
          <a:ln/>
        </p:spPr>
        <p:txBody>
          <a:bodyPr wrap="square" rtlCol="0" anchor="ctr">
            <a:normAutofit/>
          </a:bodyPr>
          <a:lstStyle/>
          <a:p>
            <a:pPr marL="0" indent="0" algn="ctr">
              <a:buNone/>
            </a:pPr>
            <a:r>
              <a:rPr lang="en-US" sz="2700" b="1" dirty="0">
                <a:solidFill>
                  <a:srgbClr val="000000"/>
                </a:solidFill>
                <a:latin typeface="Open Sans" pitchFamily="34" charset="0"/>
                <a:ea typeface="Open Sans" pitchFamily="34" charset="-122"/>
                <a:cs typeface="Open Sans" pitchFamily="34" charset="-120"/>
              </a:rPr>
              <a:t>Process Flow Diagram</a:t>
            </a:r>
            <a:endParaRPr lang="en-US" sz="2700" dirty="0"/>
          </a:p>
        </p:txBody>
      </p:sp>
      <p:sp>
        <p:nvSpPr>
          <p:cNvPr id="3" name="Text 1"/>
          <p:cNvSpPr/>
          <p:nvPr/>
        </p:nvSpPr>
        <p:spPr>
          <a:xfrm>
            <a:off x="1476375" y="1525905"/>
            <a:ext cx="6191250" cy="582930"/>
          </a:xfrm>
          <a:prstGeom prst="rect">
            <a:avLst/>
          </a:prstGeom>
          <a:noFill/>
          <a:ln/>
        </p:spPr>
        <p:txBody>
          <a:bodyPr wrap="square" rtlCol="0" anchor="ctr">
            <a:normAutofit/>
          </a:bodyPr>
          <a:lstStyle/>
          <a:p>
            <a:pPr marL="0" indent="0" algn="ctr">
              <a:lnSpc>
                <a:spcPts val="1800"/>
              </a:lnSpc>
              <a:buNone/>
            </a:pPr>
            <a:r>
              <a:rPr lang="en-US" sz="1200" dirty="0">
                <a:solidFill>
                  <a:srgbClr val="000000"/>
                </a:solidFill>
                <a:latin typeface="Open Sans" pitchFamily="34" charset="0"/>
                <a:ea typeface="Open Sans" pitchFamily="34" charset="-122"/>
                <a:cs typeface="Open Sans" pitchFamily="34" charset="-120"/>
              </a:rPr>
              <a:t>This diagram illustrates the comprehensive process flow, showcasing how users move through various system stages. Different components of the workflow are connected, demonstrating the progression and interaction points between the landing and registration pages.</a:t>
            </a:r>
            <a:endParaRPr lang="en-US" sz="1200" dirty="0"/>
          </a:p>
        </p:txBody>
      </p:sp>
      <p:sp>
        <p:nvSpPr>
          <p:cNvPr id="4" name="Shape 2"/>
          <p:cNvSpPr/>
          <p:nvPr/>
        </p:nvSpPr>
        <p:spPr>
          <a:xfrm>
            <a:off x="600075" y="2680335"/>
            <a:ext cx="2552700" cy="1619250"/>
          </a:xfrm>
          <a:prstGeom prst="roundRect">
            <a:avLst>
              <a:gd name="adj" fmla="val 11765"/>
            </a:avLst>
          </a:prstGeom>
          <a:solidFill>
            <a:srgbClr val="181C21"/>
          </a:solidFill>
          <a:ln/>
        </p:spPr>
      </p:sp>
      <p:sp>
        <p:nvSpPr>
          <p:cNvPr id="5" name="Text 3"/>
          <p:cNvSpPr/>
          <p:nvPr/>
        </p:nvSpPr>
        <p:spPr>
          <a:xfrm>
            <a:off x="790575" y="2908935"/>
            <a:ext cx="2171700" cy="419100"/>
          </a:xfrm>
          <a:prstGeom prst="rect">
            <a:avLst/>
          </a:prstGeom>
          <a:noFill/>
          <a:ln/>
        </p:spPr>
        <p:txBody>
          <a:bodyPr wrap="square" rtlCol="0" anchor="t">
            <a:normAutofit/>
          </a:bodyPr>
          <a:lstStyle/>
          <a:p>
            <a:pPr marL="0" indent="0">
              <a:buNone/>
            </a:pPr>
            <a:r>
              <a:rPr lang="en-US" sz="1425" b="1" dirty="0">
                <a:solidFill>
                  <a:srgbClr val="FFFFFF"/>
                </a:solidFill>
                <a:latin typeface="Open Sans" pitchFamily="34" charset="0"/>
                <a:ea typeface="Open Sans" pitchFamily="34" charset="-122"/>
                <a:cs typeface="Open Sans" pitchFamily="34" charset="-120"/>
              </a:rPr>
              <a:t>User Journey</a:t>
            </a:r>
            <a:endParaRPr lang="en-US" sz="1425" dirty="0"/>
          </a:p>
        </p:txBody>
      </p:sp>
      <p:sp>
        <p:nvSpPr>
          <p:cNvPr id="6" name="Text 4"/>
          <p:cNvSpPr/>
          <p:nvPr/>
        </p:nvSpPr>
        <p:spPr>
          <a:xfrm>
            <a:off x="790575" y="3375660"/>
            <a:ext cx="2171700" cy="695325"/>
          </a:xfrm>
          <a:prstGeom prst="rect">
            <a:avLst/>
          </a:prstGeom>
          <a:noFill/>
          <a:ln/>
        </p:spPr>
        <p:txBody>
          <a:bodyPr wrap="square" rtlCol="0" anchor="t">
            <a:normAutofit/>
          </a:bodyPr>
          <a:lstStyle/>
          <a:p>
            <a:pPr marL="0" indent="0">
              <a:lnSpc>
                <a:spcPts val="1575"/>
              </a:lnSpc>
              <a:buNone/>
            </a:pPr>
            <a:r>
              <a:rPr lang="en-US" sz="1125" dirty="0">
                <a:solidFill>
                  <a:srgbClr val="FFFFFF"/>
                </a:solidFill>
                <a:latin typeface="Open Sans" pitchFamily="34" charset="0"/>
                <a:ea typeface="Open Sans" pitchFamily="34" charset="-122"/>
                <a:cs typeface="Open Sans" pitchFamily="34" charset="-120"/>
              </a:rPr>
              <a:t>Maps out the steps a user takes from entry to registration.</a:t>
            </a:r>
            <a:endParaRPr lang="en-US" sz="1125" dirty="0"/>
          </a:p>
        </p:txBody>
      </p:sp>
      <p:sp>
        <p:nvSpPr>
          <p:cNvPr id="7" name="Shape 5"/>
          <p:cNvSpPr/>
          <p:nvPr/>
        </p:nvSpPr>
        <p:spPr>
          <a:xfrm>
            <a:off x="3295650" y="2680335"/>
            <a:ext cx="2552700" cy="1619250"/>
          </a:xfrm>
          <a:prstGeom prst="roundRect">
            <a:avLst>
              <a:gd name="adj" fmla="val 11765"/>
            </a:avLst>
          </a:prstGeom>
          <a:solidFill>
            <a:srgbClr val="4F7C8B"/>
          </a:solidFill>
          <a:ln/>
        </p:spPr>
      </p:sp>
      <p:sp>
        <p:nvSpPr>
          <p:cNvPr id="8" name="Text 6"/>
          <p:cNvSpPr/>
          <p:nvPr/>
        </p:nvSpPr>
        <p:spPr>
          <a:xfrm>
            <a:off x="3486150" y="2908935"/>
            <a:ext cx="2171700" cy="419100"/>
          </a:xfrm>
          <a:prstGeom prst="rect">
            <a:avLst/>
          </a:prstGeom>
          <a:noFill/>
          <a:ln/>
        </p:spPr>
        <p:txBody>
          <a:bodyPr wrap="square" rtlCol="0" anchor="t">
            <a:normAutofit/>
          </a:bodyPr>
          <a:lstStyle/>
          <a:p>
            <a:pPr marL="0" indent="0">
              <a:buNone/>
            </a:pPr>
            <a:r>
              <a:rPr lang="en-US" sz="1425" b="1" dirty="0">
                <a:solidFill>
                  <a:srgbClr val="FFFFFF"/>
                </a:solidFill>
                <a:latin typeface="Open Sans" pitchFamily="34" charset="0"/>
                <a:ea typeface="Open Sans" pitchFamily="34" charset="-122"/>
                <a:cs typeface="Open Sans" pitchFamily="34" charset="-120"/>
              </a:rPr>
              <a:t>Workflow Components</a:t>
            </a:r>
            <a:endParaRPr lang="en-US" sz="1425" dirty="0"/>
          </a:p>
        </p:txBody>
      </p:sp>
      <p:sp>
        <p:nvSpPr>
          <p:cNvPr id="9" name="Text 7"/>
          <p:cNvSpPr/>
          <p:nvPr/>
        </p:nvSpPr>
        <p:spPr>
          <a:xfrm>
            <a:off x="3486150" y="3375660"/>
            <a:ext cx="2171700" cy="695325"/>
          </a:xfrm>
          <a:prstGeom prst="rect">
            <a:avLst/>
          </a:prstGeom>
          <a:noFill/>
          <a:ln/>
        </p:spPr>
        <p:txBody>
          <a:bodyPr wrap="square" rtlCol="0" anchor="t">
            <a:normAutofit/>
          </a:bodyPr>
          <a:lstStyle/>
          <a:p>
            <a:pPr marL="0" indent="0">
              <a:lnSpc>
                <a:spcPts val="1575"/>
              </a:lnSpc>
              <a:buNone/>
            </a:pPr>
            <a:r>
              <a:rPr lang="en-US" sz="1125" dirty="0">
                <a:solidFill>
                  <a:srgbClr val="FFFFFF"/>
                </a:solidFill>
                <a:latin typeface="Open Sans" pitchFamily="34" charset="0"/>
                <a:ea typeface="Open Sans" pitchFamily="34" charset="-122"/>
                <a:cs typeface="Open Sans" pitchFamily="34" charset="-120"/>
              </a:rPr>
              <a:t>Details the individual elements and their roles in the system.</a:t>
            </a:r>
            <a:endParaRPr lang="en-US" sz="1125" dirty="0"/>
          </a:p>
        </p:txBody>
      </p:sp>
      <p:sp>
        <p:nvSpPr>
          <p:cNvPr id="10" name="Shape 8"/>
          <p:cNvSpPr/>
          <p:nvPr/>
        </p:nvSpPr>
        <p:spPr>
          <a:xfrm>
            <a:off x="5991225" y="2680335"/>
            <a:ext cx="2552700" cy="1619250"/>
          </a:xfrm>
          <a:prstGeom prst="roundRect">
            <a:avLst>
              <a:gd name="adj" fmla="val 11765"/>
            </a:avLst>
          </a:prstGeom>
          <a:solidFill>
            <a:srgbClr val="434D5C"/>
          </a:solidFill>
          <a:ln/>
        </p:spPr>
      </p:sp>
      <p:sp>
        <p:nvSpPr>
          <p:cNvPr id="11" name="Text 9"/>
          <p:cNvSpPr/>
          <p:nvPr/>
        </p:nvSpPr>
        <p:spPr>
          <a:xfrm>
            <a:off x="6181725" y="2908935"/>
            <a:ext cx="2171700" cy="419100"/>
          </a:xfrm>
          <a:prstGeom prst="rect">
            <a:avLst/>
          </a:prstGeom>
          <a:noFill/>
          <a:ln/>
        </p:spPr>
        <p:txBody>
          <a:bodyPr wrap="square" rtlCol="0" anchor="t">
            <a:normAutofit/>
          </a:bodyPr>
          <a:lstStyle/>
          <a:p>
            <a:pPr marL="0" indent="0">
              <a:buNone/>
            </a:pPr>
            <a:r>
              <a:rPr lang="en-US" sz="1425" b="1" dirty="0">
                <a:solidFill>
                  <a:srgbClr val="FFFFFF"/>
                </a:solidFill>
                <a:latin typeface="Open Sans" pitchFamily="34" charset="0"/>
                <a:ea typeface="Open Sans" pitchFamily="34" charset="-122"/>
                <a:cs typeface="Open Sans" pitchFamily="34" charset="-120"/>
              </a:rPr>
              <a:t>Interaction Points</a:t>
            </a:r>
            <a:endParaRPr lang="en-US" sz="1425" dirty="0"/>
          </a:p>
        </p:txBody>
      </p:sp>
      <p:sp>
        <p:nvSpPr>
          <p:cNvPr id="12" name="Text 10"/>
          <p:cNvSpPr/>
          <p:nvPr/>
        </p:nvSpPr>
        <p:spPr>
          <a:xfrm>
            <a:off x="6181725" y="3375660"/>
            <a:ext cx="2171700" cy="695325"/>
          </a:xfrm>
          <a:prstGeom prst="rect">
            <a:avLst/>
          </a:prstGeom>
          <a:noFill/>
          <a:ln/>
        </p:spPr>
        <p:txBody>
          <a:bodyPr wrap="square" rtlCol="0" anchor="t">
            <a:normAutofit/>
          </a:bodyPr>
          <a:lstStyle/>
          <a:p>
            <a:pPr marL="0" indent="0">
              <a:lnSpc>
                <a:spcPts val="1575"/>
              </a:lnSpc>
              <a:buNone/>
            </a:pPr>
            <a:r>
              <a:rPr lang="en-US" sz="1125" dirty="0">
                <a:solidFill>
                  <a:srgbClr val="FFFFFF"/>
                </a:solidFill>
                <a:latin typeface="Open Sans" pitchFamily="34" charset="0"/>
                <a:ea typeface="Open Sans" pitchFamily="34" charset="-122"/>
                <a:cs typeface="Open Sans" pitchFamily="34" charset="-120"/>
              </a:rPr>
              <a:t>Highlights key areas where user input is required.</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BBBBBB"/>
        </a:solidFill>
        <a:effectLst/>
      </p:bgPr>
    </p:bg>
    <p:spTree>
      <p:nvGrpSpPr>
        <p:cNvPr id="1" name=""/>
        <p:cNvGrpSpPr/>
        <p:nvPr/>
      </p:nvGrpSpPr>
      <p:grpSpPr>
        <a:xfrm>
          <a:off x="0" y="0"/>
          <a:ext cx="0" cy="0"/>
          <a:chOff x="0" y="0"/>
          <a:chExt cx="0" cy="0"/>
        </a:xfrm>
      </p:grpSpPr>
      <p:sp>
        <p:nvSpPr>
          <p:cNvPr id="2" name="Text 0"/>
          <p:cNvSpPr/>
          <p:nvPr/>
        </p:nvSpPr>
        <p:spPr>
          <a:xfrm>
            <a:off x="914400" y="1234440"/>
            <a:ext cx="7315200" cy="308610"/>
          </a:xfrm>
          <a:prstGeom prst="rect">
            <a:avLst/>
          </a:prstGeom>
          <a:noFill/>
          <a:ln/>
        </p:spPr>
        <p:txBody>
          <a:bodyPr wrap="square" rtlCol="0" anchor="ctr"/>
          <a:lstStyle/>
          <a:p>
            <a:pPr marL="0" indent="0" algn="ctr">
              <a:buNone/>
            </a:pPr>
            <a:r>
              <a:rPr lang="en-US" sz="1800" b="1" dirty="0">
                <a:solidFill>
                  <a:srgbClr val="000000"/>
                </a:solidFill>
                <a:latin typeface="Open Sans" pitchFamily="34" charset="0"/>
                <a:ea typeface="Open Sans" pitchFamily="34" charset="-122"/>
                <a:cs typeface="Open Sans" pitchFamily="34" charset="-120"/>
              </a:rPr>
              <a:t>Key Benefits of the System</a:t>
            </a:r>
            <a:endParaRPr lang="en-US" sz="1800" dirty="0"/>
          </a:p>
        </p:txBody>
      </p:sp>
      <p:sp>
        <p:nvSpPr>
          <p:cNvPr id="3" name="Text 1"/>
          <p:cNvSpPr/>
          <p:nvPr/>
        </p:nvSpPr>
        <p:spPr>
          <a:xfrm>
            <a:off x="457200" y="1554480"/>
            <a:ext cx="8229600" cy="514350"/>
          </a:xfrm>
          <a:prstGeom prst="rect">
            <a:avLst/>
          </a:prstGeom>
          <a:noFill/>
          <a:ln/>
        </p:spPr>
        <p:txBody>
          <a:bodyPr wrap="square" rtlCol="0" anchor="ctr"/>
          <a:lstStyle/>
          <a:p>
            <a:pPr marL="0" indent="0" algn="ctr">
              <a:buNone/>
            </a:pPr>
            <a:r>
              <a:rPr lang="en-US" sz="1200" dirty="0">
                <a:solidFill>
                  <a:srgbClr val="000000"/>
                </a:solidFill>
                <a:latin typeface="Open Sans" pitchFamily="34" charset="0"/>
                <a:ea typeface="Open Sans" pitchFamily="34" charset="-122"/>
                <a:cs typeface="Open Sans" pitchFamily="34" charset="-120"/>
              </a:rPr>
              <a:t>Discussing the advantages of the proposed system, this slide focuses on efficiency, user engagement, and data integration. The seamless nature of the workflow ensures a superior user experience and enhanced operational efficiency for businesses.</a:t>
            </a:r>
            <a:endParaRPr lang="en-US" sz="1200" dirty="0"/>
          </a:p>
        </p:txBody>
      </p:sp>
      <p:sp>
        <p:nvSpPr>
          <p:cNvPr id="4" name="Shape 2"/>
          <p:cNvSpPr/>
          <p:nvPr/>
        </p:nvSpPr>
        <p:spPr>
          <a:xfrm>
            <a:off x="457200" y="2743200"/>
            <a:ext cx="2057400" cy="1371600"/>
          </a:xfrm>
          <a:prstGeom prst="rect">
            <a:avLst/>
          </a:prstGeom>
          <a:solidFill>
            <a:srgbClr val="181C21"/>
          </a:solidFill>
          <a:ln/>
        </p:spPr>
      </p:sp>
      <p:sp>
        <p:nvSpPr>
          <p:cNvPr id="5" name="Text 3"/>
          <p:cNvSpPr/>
          <p:nvPr/>
        </p:nvSpPr>
        <p:spPr>
          <a:xfrm>
            <a:off x="548640" y="2834640"/>
            <a:ext cx="1874520" cy="257175"/>
          </a:xfrm>
          <a:prstGeom prst="rect">
            <a:avLst/>
          </a:prstGeom>
          <a:noFill/>
          <a:ln/>
        </p:spPr>
        <p:txBody>
          <a:bodyPr wrap="square" rtlCol="0" anchor="ctr"/>
          <a:lstStyle/>
          <a:p>
            <a:pPr marL="0" indent="0" algn="l">
              <a:buNone/>
            </a:pPr>
            <a:r>
              <a:rPr lang="en-US" sz="1200" b="1" dirty="0">
                <a:solidFill>
                  <a:srgbClr val="FFFFFF"/>
                </a:solidFill>
                <a:latin typeface="Open Sans" pitchFamily="34" charset="0"/>
                <a:ea typeface="Open Sans" pitchFamily="34" charset="-122"/>
                <a:cs typeface="Open Sans" pitchFamily="34" charset="-120"/>
              </a:rPr>
              <a:t>Efficiency</a:t>
            </a:r>
            <a:endParaRPr lang="en-US" sz="1200" dirty="0"/>
          </a:p>
        </p:txBody>
      </p:sp>
      <p:sp>
        <p:nvSpPr>
          <p:cNvPr id="6" name="Text 4"/>
          <p:cNvSpPr/>
          <p:nvPr/>
        </p:nvSpPr>
        <p:spPr>
          <a:xfrm>
            <a:off x="502920" y="3200400"/>
            <a:ext cx="1965960" cy="720090"/>
          </a:xfrm>
          <a:prstGeom prst="rect">
            <a:avLst/>
          </a:prstGeom>
          <a:noFill/>
          <a:ln/>
        </p:spPr>
        <p:txBody>
          <a:bodyPr wrap="square" rtlCol="0" anchor="ctr"/>
          <a:lstStyle/>
          <a:p>
            <a:pPr marL="0" indent="0" algn="l">
              <a:buNone/>
            </a:pPr>
            <a:r>
              <a:rPr lang="en-US" sz="1000" dirty="0">
                <a:solidFill>
                  <a:srgbClr val="FFFFFF"/>
                </a:solidFill>
                <a:latin typeface="Open Sans" pitchFamily="34" charset="0"/>
                <a:ea typeface="Open Sans" pitchFamily="34" charset="-122"/>
                <a:cs typeface="Open Sans" pitchFamily="34" charset="-120"/>
              </a:rPr>
              <a:t>Reduces time spent on user registration and data processing.</a:t>
            </a:r>
            <a:endParaRPr lang="en-US" sz="1000" dirty="0"/>
          </a:p>
        </p:txBody>
      </p:sp>
      <p:sp>
        <p:nvSpPr>
          <p:cNvPr id="7" name="Shape 5"/>
          <p:cNvSpPr/>
          <p:nvPr/>
        </p:nvSpPr>
        <p:spPr>
          <a:xfrm>
            <a:off x="2514600" y="2743200"/>
            <a:ext cx="2057400" cy="1371600"/>
          </a:xfrm>
          <a:prstGeom prst="rect">
            <a:avLst/>
          </a:prstGeom>
          <a:solidFill>
            <a:srgbClr val="4F7C8B"/>
          </a:solidFill>
          <a:ln/>
        </p:spPr>
      </p:sp>
      <p:sp>
        <p:nvSpPr>
          <p:cNvPr id="8" name="Text 6"/>
          <p:cNvSpPr/>
          <p:nvPr/>
        </p:nvSpPr>
        <p:spPr>
          <a:xfrm>
            <a:off x="2606040" y="2834640"/>
            <a:ext cx="1874520" cy="257175"/>
          </a:xfrm>
          <a:prstGeom prst="rect">
            <a:avLst/>
          </a:prstGeom>
          <a:noFill/>
          <a:ln/>
        </p:spPr>
        <p:txBody>
          <a:bodyPr wrap="square" rtlCol="0" anchor="ctr"/>
          <a:lstStyle/>
          <a:p>
            <a:pPr marL="0" indent="0" algn="l">
              <a:buNone/>
            </a:pPr>
            <a:r>
              <a:rPr lang="en-US" sz="1200" b="1" dirty="0">
                <a:solidFill>
                  <a:srgbClr val="000000"/>
                </a:solidFill>
                <a:latin typeface="Open Sans" pitchFamily="34" charset="0"/>
                <a:ea typeface="Open Sans" pitchFamily="34" charset="-122"/>
                <a:cs typeface="Open Sans" pitchFamily="34" charset="-120"/>
              </a:rPr>
              <a:t>Engagement</a:t>
            </a:r>
            <a:endParaRPr lang="en-US" sz="1200" dirty="0"/>
          </a:p>
        </p:txBody>
      </p:sp>
      <p:sp>
        <p:nvSpPr>
          <p:cNvPr id="9" name="Text 7"/>
          <p:cNvSpPr/>
          <p:nvPr/>
        </p:nvSpPr>
        <p:spPr>
          <a:xfrm>
            <a:off x="2560320" y="3200400"/>
            <a:ext cx="1965960" cy="720090"/>
          </a:xfrm>
          <a:prstGeom prst="rect">
            <a:avLst/>
          </a:prstGeom>
          <a:noFill/>
          <a:ln/>
        </p:spPr>
        <p:txBody>
          <a:bodyPr wrap="square" rtlCol="0" anchor="ctr"/>
          <a:lstStyle/>
          <a:p>
            <a:pPr marL="0" indent="0" algn="l">
              <a:buNone/>
            </a:pPr>
            <a:r>
              <a:rPr lang="en-US" sz="1000" dirty="0">
                <a:solidFill>
                  <a:srgbClr val="000000"/>
                </a:solidFill>
                <a:latin typeface="Open Sans" pitchFamily="34" charset="0"/>
                <a:ea typeface="Open Sans" pitchFamily="34" charset="-122"/>
                <a:cs typeface="Open Sans" pitchFamily="34" charset="-120"/>
              </a:rPr>
              <a:t>Increases user interaction and satisfaction through streamlined processes.</a:t>
            </a:r>
            <a:endParaRPr lang="en-US" sz="1000" dirty="0"/>
          </a:p>
        </p:txBody>
      </p:sp>
      <p:sp>
        <p:nvSpPr>
          <p:cNvPr id="10" name="Shape 8"/>
          <p:cNvSpPr/>
          <p:nvPr/>
        </p:nvSpPr>
        <p:spPr>
          <a:xfrm>
            <a:off x="4572000" y="2743200"/>
            <a:ext cx="2057400" cy="1371600"/>
          </a:xfrm>
          <a:prstGeom prst="rect">
            <a:avLst/>
          </a:prstGeom>
          <a:solidFill>
            <a:srgbClr val="434D5C"/>
          </a:solidFill>
          <a:ln/>
        </p:spPr>
      </p:sp>
      <p:sp>
        <p:nvSpPr>
          <p:cNvPr id="11" name="Text 9"/>
          <p:cNvSpPr/>
          <p:nvPr/>
        </p:nvSpPr>
        <p:spPr>
          <a:xfrm>
            <a:off x="4663440" y="2834640"/>
            <a:ext cx="1874520" cy="257175"/>
          </a:xfrm>
          <a:prstGeom prst="rect">
            <a:avLst/>
          </a:prstGeom>
          <a:noFill/>
          <a:ln/>
        </p:spPr>
        <p:txBody>
          <a:bodyPr wrap="square" rtlCol="0" anchor="ctr"/>
          <a:lstStyle/>
          <a:p>
            <a:pPr marL="0" indent="0" algn="l">
              <a:buNone/>
            </a:pPr>
            <a:r>
              <a:rPr lang="en-US" sz="1200" b="1" dirty="0">
                <a:solidFill>
                  <a:srgbClr val="000000"/>
                </a:solidFill>
                <a:latin typeface="Open Sans" pitchFamily="34" charset="0"/>
                <a:ea typeface="Open Sans" pitchFamily="34" charset="-122"/>
                <a:cs typeface="Open Sans" pitchFamily="34" charset="-120"/>
              </a:rPr>
              <a:t>Integration</a:t>
            </a:r>
            <a:endParaRPr lang="en-US" sz="1200" dirty="0"/>
          </a:p>
        </p:txBody>
      </p:sp>
      <p:sp>
        <p:nvSpPr>
          <p:cNvPr id="12" name="Text 10"/>
          <p:cNvSpPr/>
          <p:nvPr/>
        </p:nvSpPr>
        <p:spPr>
          <a:xfrm>
            <a:off x="4617720" y="3200400"/>
            <a:ext cx="1965960" cy="720090"/>
          </a:xfrm>
          <a:prstGeom prst="rect">
            <a:avLst/>
          </a:prstGeom>
          <a:noFill/>
          <a:ln/>
        </p:spPr>
        <p:txBody>
          <a:bodyPr wrap="square" rtlCol="0" anchor="ctr"/>
          <a:lstStyle/>
          <a:p>
            <a:pPr marL="0" indent="0" algn="l">
              <a:buNone/>
            </a:pPr>
            <a:r>
              <a:rPr lang="en-US" sz="1000" dirty="0">
                <a:solidFill>
                  <a:srgbClr val="000000"/>
                </a:solidFill>
                <a:latin typeface="Open Sans" pitchFamily="34" charset="0"/>
                <a:ea typeface="Open Sans" pitchFamily="34" charset="-122"/>
                <a:cs typeface="Open Sans" pitchFamily="34" charset="-120"/>
              </a:rPr>
              <a:t>Allows for seamless data flow between components.</a:t>
            </a:r>
            <a:endParaRPr lang="en-US" sz="1000" dirty="0"/>
          </a:p>
        </p:txBody>
      </p:sp>
      <p:sp>
        <p:nvSpPr>
          <p:cNvPr id="13" name="Shape 11"/>
          <p:cNvSpPr/>
          <p:nvPr/>
        </p:nvSpPr>
        <p:spPr>
          <a:xfrm>
            <a:off x="6629400" y="2743200"/>
            <a:ext cx="2057400" cy="1371600"/>
          </a:xfrm>
          <a:prstGeom prst="rect">
            <a:avLst/>
          </a:prstGeom>
          <a:solidFill>
            <a:srgbClr val="86ADBA"/>
          </a:solidFill>
          <a:ln/>
        </p:spPr>
      </p:sp>
      <p:sp>
        <p:nvSpPr>
          <p:cNvPr id="14" name="Text 12"/>
          <p:cNvSpPr/>
          <p:nvPr/>
        </p:nvSpPr>
        <p:spPr>
          <a:xfrm>
            <a:off x="6720840" y="2834640"/>
            <a:ext cx="1874520" cy="257175"/>
          </a:xfrm>
          <a:prstGeom prst="rect">
            <a:avLst/>
          </a:prstGeom>
          <a:noFill/>
          <a:ln/>
        </p:spPr>
        <p:txBody>
          <a:bodyPr wrap="square" rtlCol="0" anchor="ctr"/>
          <a:lstStyle/>
          <a:p>
            <a:pPr marL="0" indent="0" algn="l">
              <a:buNone/>
            </a:pPr>
            <a:r>
              <a:rPr lang="en-US" sz="1200" b="1" dirty="0">
                <a:solidFill>
                  <a:srgbClr val="000000"/>
                </a:solidFill>
                <a:latin typeface="Open Sans" pitchFamily="34" charset="0"/>
                <a:ea typeface="Open Sans" pitchFamily="34" charset="-122"/>
                <a:cs typeface="Open Sans" pitchFamily="34" charset="-120"/>
              </a:rPr>
              <a:t>User Experience</a:t>
            </a:r>
            <a:endParaRPr lang="en-US" sz="1200" dirty="0"/>
          </a:p>
        </p:txBody>
      </p:sp>
      <p:sp>
        <p:nvSpPr>
          <p:cNvPr id="15" name="Text 13"/>
          <p:cNvSpPr/>
          <p:nvPr/>
        </p:nvSpPr>
        <p:spPr>
          <a:xfrm>
            <a:off x="6675120" y="3200400"/>
            <a:ext cx="1965960" cy="720090"/>
          </a:xfrm>
          <a:prstGeom prst="rect">
            <a:avLst/>
          </a:prstGeom>
          <a:noFill/>
          <a:ln/>
        </p:spPr>
        <p:txBody>
          <a:bodyPr wrap="square" rtlCol="0" anchor="ctr"/>
          <a:lstStyle/>
          <a:p>
            <a:pPr marL="0" indent="0" algn="l">
              <a:buNone/>
            </a:pPr>
            <a:r>
              <a:rPr lang="en-US" sz="1000" dirty="0">
                <a:solidFill>
                  <a:srgbClr val="000000"/>
                </a:solidFill>
                <a:latin typeface="Open Sans" pitchFamily="34" charset="0"/>
                <a:ea typeface="Open Sans" pitchFamily="34" charset="-122"/>
                <a:cs typeface="Open Sans" pitchFamily="34" charset="-120"/>
              </a:rPr>
              <a:t>Enhances the overall experience, ensuring ease of use.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391</Words>
  <Application>Microsoft Office PowerPoint</Application>
  <PresentationFormat>On-screen Show (16:9)</PresentationFormat>
  <Paragraphs>41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Open Sans</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Kushal B N</cp:lastModifiedBy>
  <cp:revision>2</cp:revision>
  <dcterms:created xsi:type="dcterms:W3CDTF">2025-12-27T06:53:29Z</dcterms:created>
  <dcterms:modified xsi:type="dcterms:W3CDTF">2025-12-27T13:39:14Z</dcterms:modified>
</cp:coreProperties>
</file>